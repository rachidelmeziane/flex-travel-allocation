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3" r:id="rId9"/>
    <p:sldId id="263" r:id="rId10"/>
    <p:sldId id="262" r:id="rId11"/>
    <p:sldId id="274" r:id="rId12"/>
    <p:sldId id="266" r:id="rId13"/>
    <p:sldId id="265" r:id="rId14"/>
    <p:sldId id="264" r:id="rId15"/>
    <p:sldId id="267" r:id="rId16"/>
    <p:sldId id="272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Segoe UI"/>
              </a:defRPr>
            </a:pPr>
            <a:r>
              <a:rPr lang="en-GB" sz="1300" b="0" i="0" u="none" strike="noStrike">
                <a:solidFill>
                  <a:srgbClr val="0B1F3A"/>
                </a:solidFill>
                <a:latin typeface="Segoe UI"/>
              </a:rPr>
              <a:t>Gap vs recoverable (EUR million)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Transition gap</c:v>
                </c:pt>
              </c:strCache>
            </c:strRef>
          </c:tx>
          <c:spPr>
            <a:solidFill>
              <a:srgbClr val="8AA6C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Flex 6</c:v>
                </c:pt>
                <c:pt idx="1">
                  <c:v>Flex 10</c:v>
                </c:pt>
                <c:pt idx="2">
                  <c:v>Flex 80</c:v>
                </c:pt>
                <c:pt idx="3">
                  <c:v>Flex 120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0.01</c:v>
                </c:pt>
                <c:pt idx="1">
                  <c:v>0.03</c:v>
                </c:pt>
                <c:pt idx="2">
                  <c:v>2.71</c:v>
                </c:pt>
                <c:pt idx="3">
                  <c:v>3.48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86-4384-8A71-B277C3F573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Recoverable (MDP)</c:v>
                </c:pt>
              </c:strCache>
            </c:strRef>
          </c:tx>
          <c:spPr>
            <a:solidFill>
              <a:srgbClr val="2E6FD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Flex 6</c:v>
                </c:pt>
                <c:pt idx="1">
                  <c:v>Flex 10</c:v>
                </c:pt>
                <c:pt idx="2">
                  <c:v>Flex 80</c:v>
                </c:pt>
                <c:pt idx="3">
                  <c:v>Flex 120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0.77</c:v>
                </c:pt>
                <c:pt idx="3">
                  <c:v>1.32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86-4384-8A71-B277C3F573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6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Segoe UI"/>
              </a:defRPr>
            </a:pPr>
            <a:r>
              <a:rPr lang="en-GB" sz="1300" b="0" i="0" u="none" strike="noStrike">
                <a:solidFill>
                  <a:srgbClr val="0B1F3A"/>
                </a:solidFill>
                <a:latin typeface="Segoe UI"/>
              </a:rPr>
              <a:t>Revenue by product (EUR million)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revenue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Flex 6</c:v>
                </c:pt>
                <c:pt idx="1">
                  <c:v>Flex 10</c:v>
                </c:pt>
                <c:pt idx="2">
                  <c:v>Flex 80</c:v>
                </c:pt>
                <c:pt idx="3">
                  <c:v>Flex 120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</c:v>
                </c:pt>
                <c:pt idx="1">
                  <c:v>1.37</c:v>
                </c:pt>
                <c:pt idx="2">
                  <c:v>11.65</c:v>
                </c:pt>
                <c:pt idx="3">
                  <c:v>6.91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2-4FC0-BC5C-FE5A12D670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Activation revenue</c:v>
                </c:pt>
              </c:strCache>
            </c:strRef>
          </c:tx>
          <c:spPr>
            <a:solidFill>
              <a:srgbClr val="2E6FD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Flex 6</c:v>
                </c:pt>
                <c:pt idx="1">
                  <c:v>Flex 10</c:v>
                </c:pt>
                <c:pt idx="2">
                  <c:v>Flex 80</c:v>
                </c:pt>
                <c:pt idx="3">
                  <c:v>Flex 120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0.95</c:v>
                </c:pt>
                <c:pt idx="1">
                  <c:v>1.34</c:v>
                </c:pt>
                <c:pt idx="2">
                  <c:v>8.93</c:v>
                </c:pt>
                <c:pt idx="3">
                  <c:v>3.42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A2-4FC0-BC5C-FE5A12D670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"/>
          <c:min val="0"/>
        </c:scaling>
        <c:delete val="0"/>
        <c:axPos val="l"/>
        <c:majorGridlines>
          <c:spPr>
            <a:ln w="6350" cap="flat">
              <a:solidFill>
                <a:srgbClr val="E6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1F3A"/>
                </a:solidFill>
                <a:latin typeface="Segoe UI"/>
              </a:defRPr>
            </a:pPr>
            <a:r>
              <a:rPr lang="en-GB" sz="1250" b="0" i="0" u="none" strike="noStrike">
                <a:solidFill>
                  <a:srgbClr val="0B1F3A"/>
                </a:solidFill>
                <a:latin typeface="Segoe UI"/>
              </a:rPr>
              <a:t>Share of revenue exposed / capacity freed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exposed = capacity freed</c:v>
                </c:pt>
              </c:strCache>
            </c:strRef>
          </c:tx>
          <c:spPr>
            <a:solidFill>
              <a:srgbClr val="2E6FD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Flex 6</c:v>
                </c:pt>
                <c:pt idx="1">
                  <c:v>Flex 10</c:v>
                </c:pt>
                <c:pt idx="2">
                  <c:v>Flex 80</c:v>
                </c:pt>
                <c:pt idx="3">
                  <c:v>Flex 120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2.2999999999999998</c:v>
                </c:pt>
                <c:pt idx="2">
                  <c:v>23.3</c:v>
                </c:pt>
                <c:pt idx="3">
                  <c:v>50.3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5A-411E-89C9-BE71D80495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6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33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Flex is a pay-per-activation pass: we see sales and activations, not travels. The task was to reconstruct the travels, then use them to answer two questions: one on revenue, one on train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Five numbers: the volume allocated, the revenue exposed if income followed travel, the seats and the trains over-provisioned by sales-based planning, and what a targeted promotion recovers. Everything after this is how we got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Four functional requirements, the team conventions, and how we know we met them. The products differ mainly in how many travel days they carry and over what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Six inputs in, one long table out. Cleaning only selects, renames and casts - no business logic. The invariant on the left is the smoke test that guards every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Walk the flow left to right, then the assumptions: each one is a named, tested function, so changing it is a code change rather than a hidden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Stage 1 is deterministic bookkeeping: match, filter, fan out. Stage 2 samples the survey distributions by inverse transform through a broadcast range join - no Python UDF, fixed SEED (42), so the table is reproducible. The same probabilities also give the exact expected distribution and Monte-Carlo bands.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Same code local and on Databricks. The point: a fixed SEED plus schema tests means the figures in the next section are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E58E-5D94-17AC-17E3-42D7D6538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E7B27-D666-37B8-EB56-AD4BB1000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Flex is a pay-per-activation pass: we see sales and activations, not travels. The task was to reconstruct the travels, then use them to answer two questions: one on revenue, one on train capacity.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23B58-542A-4E7B-EA08-175EF3AE4C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81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The MDP answers what to do with an existing sale; this model answers what a sale is worth under each regime. Both point at usage, not onboarding.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Not all of the gap is recoverable: the policy only promotes where the extra activation is worth its incentive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32452-154A-0430-FEE5-595615A5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786CD-BC87-59CA-58B0-B3EBA1CDD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Flex is a pay-per-activation pass: we see sales and activations, not travels. The task was to reconstruct the travels, then use them to answer two questions: one on revenue, one on train capacity.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D3142-91B1-918A-D9B0-A3D9AD8C92F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51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Translating the pax gap into trains: same sizing rule on both bases, so the difference is purely the phantom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Same under-use, seen from the operations side: sales-based planning buys seats for travels that are never taken.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This is the test of whether the allocation is useful: it answers a real pricing question. The gap is under-use, not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The key point: one ranking, not two. Flex 120 is first on both counts, so a single action list serves both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Live demo if time allows: pick a subscription, show input and the allocated travels, then the global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One list, ordered by priority, and two asks: the production schedule and the pilot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941832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418320" y="50292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travel allocation</a:t>
            </a:r>
            <a:endParaRPr lang="en-US" sz="4000" dirty="0"/>
          </a:p>
          <a:p>
            <a:pPr marL="0" indent="0">
              <a:buNone/>
            </a:pPr>
            <a:r>
              <a:rPr lang="en-US" sz="1650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Flex sales to individual journeys: the model, business findings, and decisions on revenue and capacity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2039112" cy="1691640"/>
          </a:xfrm>
          <a:prstGeom prst="roundRect">
            <a:avLst>
              <a:gd name="adj" fmla="val 3243"/>
            </a:avLst>
          </a:prstGeom>
          <a:solidFill>
            <a:srgbClr val="13294F"/>
          </a:solidFill>
          <a:ln w="12700">
            <a:solidFill>
              <a:srgbClr val="13294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43200"/>
            <a:ext cx="2039112" cy="169164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situation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9D9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is a pay-per-activation pass. Sales and activations are recorded, but the related journeys are not. Pricing and planning therefore rely on estimates.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11780" y="2743200"/>
            <a:ext cx="2039112" cy="1691640"/>
          </a:xfrm>
          <a:prstGeom prst="roundRect">
            <a:avLst>
              <a:gd name="adj" fmla="val 3243"/>
            </a:avLst>
          </a:prstGeom>
          <a:solidFill>
            <a:srgbClr val="13294F"/>
          </a:solidFill>
          <a:ln w="12700">
            <a:solidFill>
              <a:srgbClr val="13294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Text 6"/>
          <p:cNvSpPr txBox="1"/>
          <p:nvPr/>
        </p:nvSpPr>
        <p:spPr>
          <a:xfrm>
            <a:off x="2811780" y="2743200"/>
            <a:ext cx="2039112" cy="169164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requirement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9D9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every sale to passenger journeys with a date, time and direction, within the validity period and activation limit, in a consistent manner.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74920" y="2743200"/>
            <a:ext cx="2039112" cy="1691640"/>
          </a:xfrm>
          <a:prstGeom prst="roundRect">
            <a:avLst>
              <a:gd name="adj" fmla="val 3243"/>
            </a:avLst>
          </a:prstGeom>
          <a:solidFill>
            <a:srgbClr val="13294F"/>
          </a:solidFill>
          <a:ln w="12700">
            <a:solidFill>
              <a:srgbClr val="13294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2743200"/>
            <a:ext cx="2039112" cy="169164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9D9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tested PySpark model with controlled data handling, input checks and NPD / PRD environments, prepared for scheduled production.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38060" y="2743200"/>
            <a:ext cx="2039112" cy="1691640"/>
          </a:xfrm>
          <a:prstGeom prst="roundRect">
            <a:avLst>
              <a:gd name="adj" fmla="val 3243"/>
            </a:avLst>
          </a:prstGeom>
          <a:solidFill>
            <a:srgbClr val="13294F"/>
          </a:solidFill>
          <a:ln w="12700">
            <a:solidFill>
              <a:srgbClr val="13294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Text 10"/>
          <p:cNvSpPr txBox="1"/>
          <p:nvPr/>
        </p:nvSpPr>
        <p:spPr>
          <a:xfrm>
            <a:off x="7338060" y="2743200"/>
            <a:ext cx="2039112" cy="1691640"/>
          </a:xfrm>
          <a:prstGeom prst="rect">
            <a:avLst/>
          </a:prstGeom>
          <a:noFill/>
          <a:ln>
            <a:solidFill>
              <a:schemeClr val="bg1"/>
            </a:solidFill>
            <a:prstDash val="dashDot"/>
          </a:ln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assessment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9D9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Potential revenue impact if income followed journeys, and the capacity that sales-based planning may overestimate.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0" y="2743200"/>
            <a:ext cx="2039112" cy="1691640"/>
          </a:xfrm>
          <a:prstGeom prst="roundRect">
            <a:avLst>
              <a:gd name="adj" fmla="val 3243"/>
            </a:avLst>
          </a:prstGeom>
          <a:solidFill>
            <a:srgbClr val="13294F"/>
          </a:solidFill>
          <a:ln w="12700">
            <a:solidFill>
              <a:schemeClr val="bg1"/>
            </a:solidFill>
            <a:prstDash val="dashDot"/>
          </a:ln>
        </p:spPr>
        <p:txBody>
          <a:bodyPr/>
          <a:lstStyle/>
          <a:p>
            <a:endParaRPr lang="en-GB" dirty="0"/>
          </a:p>
        </p:txBody>
      </p:sp>
      <p:sp>
        <p:nvSpPr>
          <p:cNvPr id="15" name="Text 12"/>
          <p:cNvSpPr txBox="1"/>
          <p:nvPr/>
        </p:nvSpPr>
        <p:spPr>
          <a:xfrm>
            <a:off x="9601200" y="2743200"/>
            <a:ext cx="2039112" cy="169164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 planning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9D9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policy and sale-to-travel value models to support pricing and planning for the next production cycle.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0" y="4617720"/>
            <a:ext cx="12191695" cy="54864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8920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 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6E4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context, information used, model approach, findings and deployment</a:t>
            </a:r>
            <a:endParaRPr lang="en-US" sz="1200" dirty="0"/>
          </a:p>
          <a:p>
            <a:pPr marL="0" indent="0">
              <a:buNone/>
            </a:pPr>
            <a:r>
              <a:rPr lang="en-US" sz="1250" dirty="0">
                <a:solidFill>
                  <a:srgbClr val="D6E4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first  ·  recommendation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2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941832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052560" y="50292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delivered, and the decisions it supports</a:t>
            </a:r>
            <a:endParaRPr lang="en-US" sz="3400" dirty="0"/>
          </a:p>
          <a:p>
            <a:pPr marL="0" indent="0">
              <a:buNone/>
            </a:pPr>
            <a:r>
              <a:rPr lang="en-US" sz="1600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production-ready allocation model with clear findings on revenue and capacity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2039112" cy="1371600"/>
          </a:xfrm>
          <a:prstGeom prst="roundRect">
            <a:avLst>
              <a:gd name="adj" fmla="val 4000"/>
            </a:avLst>
          </a:prstGeom>
          <a:solidFill>
            <a:srgbClr val="13294F"/>
          </a:solidFill>
          <a:ln w="12700">
            <a:solidFill>
              <a:srgbClr val="13294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2039112" cy="1371600"/>
          </a:xfrm>
          <a:prstGeom prst="rect">
            <a:avLst/>
          </a:prstGeom>
          <a:noFill/>
          <a:ln/>
        </p:spPr>
        <p:txBody>
          <a:bodyPr wrap="square" lIns="152400" tIns="165100" rIns="127000" bIns="101600" rtlCol="0" anchor="t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2,186,474</a:t>
            </a:r>
            <a:endParaRPr lang="en-US" sz="2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9D9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Passenger journeys allocated from 37,675 sales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811780" y="2788920"/>
            <a:ext cx="2039112" cy="1371600"/>
          </a:xfrm>
          <a:prstGeom prst="roundRect">
            <a:avLst>
              <a:gd name="adj" fmla="val 4000"/>
            </a:avLst>
          </a:prstGeom>
          <a:solidFill>
            <a:srgbClr val="13294F"/>
          </a:solidFill>
          <a:ln w="12700">
            <a:solidFill>
              <a:srgbClr val="13294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Text 6"/>
          <p:cNvSpPr txBox="1"/>
          <p:nvPr/>
        </p:nvSpPr>
        <p:spPr>
          <a:xfrm>
            <a:off x="2811780" y="2788920"/>
            <a:ext cx="2039112" cy="1371600"/>
          </a:xfrm>
          <a:prstGeom prst="rect">
            <a:avLst/>
          </a:prstGeom>
          <a:noFill/>
          <a:ln>
            <a:solidFill>
              <a:schemeClr val="bg1"/>
            </a:solidFill>
            <a:prstDash val="dashDot"/>
          </a:ln>
        </p:spPr>
        <p:txBody>
          <a:bodyPr wrap="square" lIns="152400" tIns="165100" rIns="127000" bIns="101600" rtlCol="0" anchor="t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FFB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 6.2M</a:t>
            </a:r>
            <a:endParaRPr lang="en-US" sz="2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9D9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Potential revenue exposure (29.8%) if income followed actual travel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074920" y="2788920"/>
            <a:ext cx="2039112" cy="1371600"/>
          </a:xfrm>
          <a:prstGeom prst="roundRect">
            <a:avLst>
              <a:gd name="adj" fmla="val 4000"/>
            </a:avLst>
          </a:prstGeom>
          <a:solidFill>
            <a:srgbClr val="13294F"/>
          </a:solidFill>
          <a:ln w="12700">
            <a:solidFill>
              <a:srgbClr val="13294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2788920"/>
            <a:ext cx="2039112" cy="1371600"/>
          </a:xfrm>
          <a:prstGeom prst="rect">
            <a:avLst/>
          </a:prstGeom>
          <a:noFill/>
          <a:ln>
            <a:solidFill>
              <a:schemeClr val="bg1"/>
            </a:solidFill>
            <a:prstDash val="dashDot"/>
          </a:ln>
        </p:spPr>
        <p:txBody>
          <a:bodyPr wrap="square" lIns="152400" tIns="165100" rIns="127000" bIns="101600" rtlCol="0" anchor="t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FFB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+44%</a:t>
            </a:r>
            <a:endParaRPr lang="en-US" sz="2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9D9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Excess peak seats under sales-based planning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7338060" y="2788920"/>
            <a:ext cx="2039112" cy="1371600"/>
          </a:xfrm>
          <a:prstGeom prst="roundRect">
            <a:avLst>
              <a:gd name="adj" fmla="val 4000"/>
            </a:avLst>
          </a:prstGeom>
          <a:solidFill>
            <a:srgbClr val="13294F"/>
          </a:solidFill>
          <a:ln w="12700">
            <a:solidFill>
              <a:srgbClr val="13294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Text 10"/>
          <p:cNvSpPr txBox="1"/>
          <p:nvPr/>
        </p:nvSpPr>
        <p:spPr>
          <a:xfrm>
            <a:off x="7338060" y="2788920"/>
            <a:ext cx="2039112" cy="1371600"/>
          </a:xfrm>
          <a:prstGeom prst="rect">
            <a:avLst/>
          </a:prstGeom>
          <a:noFill/>
          <a:ln>
            <a:solidFill>
              <a:schemeClr val="bg1"/>
            </a:solidFill>
            <a:prstDash val="dashDot"/>
          </a:ln>
        </p:spPr>
        <p:txBody>
          <a:bodyPr wrap="square" lIns="152400" tIns="165100" rIns="127000" bIns="101600" rtlCol="0" anchor="t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-31%</a:t>
            </a:r>
            <a:endParaRPr lang="en-US" sz="2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9D9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Potentially avoidable trains per day at the same service level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9601200" y="2788920"/>
            <a:ext cx="2039112" cy="1371600"/>
          </a:xfrm>
          <a:prstGeom prst="roundRect">
            <a:avLst>
              <a:gd name="adj" fmla="val 4000"/>
            </a:avLst>
          </a:prstGeom>
          <a:solidFill>
            <a:srgbClr val="13294F"/>
          </a:solidFill>
          <a:ln w="12700">
            <a:solidFill>
              <a:srgbClr val="13294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5" name="Text 12"/>
          <p:cNvSpPr txBox="1"/>
          <p:nvPr/>
        </p:nvSpPr>
        <p:spPr>
          <a:xfrm>
            <a:off x="9601200" y="2788920"/>
            <a:ext cx="2039112" cy="1371600"/>
          </a:xfrm>
          <a:prstGeom prst="rect">
            <a:avLst/>
          </a:prstGeom>
          <a:noFill/>
          <a:ln>
            <a:solidFill>
              <a:schemeClr val="bg1"/>
            </a:solidFill>
            <a:prstDash val="dashDot"/>
          </a:ln>
        </p:spPr>
        <p:txBody>
          <a:bodyPr wrap="square" lIns="152400" tIns="165100" rIns="127000" bIns="101600" rtlCol="0" anchor="t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 2.1M</a:t>
            </a:r>
            <a:endParaRPr lang="en-US" sz="2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9D9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annual recovery from targeted promotion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0" y="4434840"/>
            <a:ext cx="12191695" cy="54864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Text 14"/>
          <p:cNvSpPr txBox="1"/>
          <p:nvPr/>
        </p:nvSpPr>
        <p:spPr>
          <a:xfrm>
            <a:off x="335939" y="4680794"/>
            <a:ext cx="11597914" cy="1570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Delivered: a tested PySpark model that converts each sale into dated outbound and return journeys and is ready for demonstration and scheduled production.</a:t>
            </a:r>
            <a:endParaRPr lang="en-US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Revenue: if income were linked to journeys taken, current use would support EUR 14.7M versus EUR 20.9M sold. Most exposure is in Flex 80 and Flex 120.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Capacity: sales-based planning assumes 3.15M journeys versus 2.19M actual, resulting in 69.3% average use, 44% excess peak seats and 2,416 additional trains per day.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policy (MDP): promote Flex 80 and Flex 120 while cumulative use remains below approximately 88–89%. The estimated recovery is EUR 2.1M per year.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Sale-to-travel value model: expected value is EUR 399 per travel allocation versus EUR 344 per sale allocation, an increase of EUR 55 (CI 55–56). The principal issue is usage pricing, not activation.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Business purpose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model must provide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each Flex sale to passenger journeys, including the date and hour.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the direction of travel: each activation represents one outbound and one return journey, with one passenger each.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the subscription validity period and the product activation limit.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 the different ticket-number formats used in sales and activation records.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team standards: Spark-native processing, clear functions, governed input and output, and controlled configuration.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 a production-ready notebook, supporting .py modules and this presentation.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46304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in scope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828800"/>
          <a:ext cx="4416552" cy="1645920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Activation limit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 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travel days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month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 10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travel days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month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 80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 travel days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months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 120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 travel days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months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3794760"/>
            <a:ext cx="4416552" cy="1691640"/>
          </a:xfrm>
          <a:prstGeom prst="roundRect">
            <a:avLst>
              <a:gd name="adj" fmla="val 3243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3794760"/>
            <a:ext cx="4416552" cy="169164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criteria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sales ticket matches one activation ticket.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passengers equal twice the number of valid activations.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input always produces the same </a:t>
            </a:r>
            <a:r>
              <a:rPr lang="en-US" sz="1150" dirty="0" err="1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flex_travels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table.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6235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 codes S0256–S0259 (256–259</a:t>
            </a:r>
            <a:r>
              <a:rPr lang="en-US" sz="1000" i="1">
                <a:solidFill>
                  <a:srgbClr val="7A8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Each </a:t>
            </a:r>
            <a:r>
              <a:rPr lang="en-US" sz="1000" i="1" dirty="0">
                <a:solidFill>
                  <a:srgbClr val="7A8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</a:t>
            </a:r>
            <a:r>
              <a:rPr lang="en-US" sz="1000" i="1">
                <a:solidFill>
                  <a:srgbClr val="7A8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applies to </a:t>
            </a:r>
            <a:r>
              <a:rPr lang="en-US" sz="1000" i="1" dirty="0">
                <a:solidFill>
                  <a:srgbClr val="7A8A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route in both directions.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</a:t>
            </a:r>
            <a:r>
              <a:rPr lang="en-US" sz="1200" b="1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used</a:t>
            </a:r>
            <a:r>
              <a:rPr lang="en-US" sz="1200" b="1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source tables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clear output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provided to </a:t>
            </a: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270738"/>
              </p:ext>
            </p:extLst>
          </p:nvPr>
        </p:nvGraphicFramePr>
        <p:xfrm>
          <a:off x="548640" y="1783080"/>
          <a:ext cx="5394960" cy="270865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provides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 definitions and activation limits</a:t>
                      </a:r>
                      <a:endParaRPr lang="en-US" sz="100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Products and activation limits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Purchased subscriptions and validity periods</a:t>
                      </a:r>
                      <a:endParaRPr lang="en-US" sz="100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Purchased subscriptions + validity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 linked to each activation ticket</a:t>
                      </a:r>
                      <a:endParaRPr lang="en-US" sz="100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per activation ticket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Activation dates, times and validity</a:t>
                      </a:r>
                      <a:endParaRPr lang="en-US" sz="100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Activation timestamps and validity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Estimated outbound time differences</a:t>
                      </a:r>
                      <a:endParaRPr lang="en-US" sz="100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There-travel minute offsets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Estimated return time differences</a:t>
                      </a:r>
                      <a:endParaRPr lang="en-US" sz="100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Back-travel hour offsets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45352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flex_travels</a:t>
            </a:r>
            <a:endParaRPr lang="en-US" sz="12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010067"/>
              </p:ext>
            </p:extLst>
          </p:nvPr>
        </p:nvGraphicFramePr>
        <p:xfrm>
          <a:off x="6245352" y="1783080"/>
          <a:ext cx="5394960" cy="259232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ticket_number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ticket identifier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article_code_int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code (256–259)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article_description_nl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description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travel_direction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= outbound, 2 = return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travel_date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journey date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travel_hour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journey hour (0–23)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travel_timestamp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and time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Estimated journey date and time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Passengers (1)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3484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 txBox="1"/>
          <p:nvPr/>
        </p:nvSpPr>
        <p:spPr>
          <a:xfrm>
            <a:off x="548640" y="4434840"/>
            <a:ext cx="5394960" cy="146304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</a:t>
            </a:r>
            <a:r>
              <a:rPr lang="en-US" sz="130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</a:t>
            </a: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30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data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2,186,474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journey records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divided equally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between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travel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passengers equal twice the number of</a:t>
            </a:r>
            <a:r>
              <a:rPr lang="en-US" sz="11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 activations.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45352" y="4389120"/>
            <a:ext cx="5394960" cy="1554480"/>
          </a:xfrm>
          <a:prstGeom prst="roundRect">
            <a:avLst>
              <a:gd name="adj" fmla="val 294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 txBox="1"/>
          <p:nvPr/>
        </p:nvSpPr>
        <p:spPr>
          <a:xfrm>
            <a:off x="6245352" y="4389120"/>
            <a:ext cx="5394960" cy="155448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fields used by the model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sales_flex: ticket number and product description,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value, sales date and validity period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activations_flex: activation ticket number and date,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 and UTC timestamp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article_code_flex: product code and maximum activations (N)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probability tables: possible time difference and likelihood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Data preparation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sales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passenger journeys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911645" cy="731520"/>
          </a:xfrm>
          <a:prstGeom prst="roundRect">
            <a:avLst>
              <a:gd name="adj" fmla="val 75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911645" cy="73152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sales and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activations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ingestion.py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33437" y="1682496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844333" y="1417320"/>
            <a:ext cx="1911645" cy="731520"/>
          </a:xfrm>
          <a:prstGeom prst="roundRect">
            <a:avLst>
              <a:gd name="adj" fmla="val 7500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2844333" y="1417320"/>
            <a:ext cx="1911645" cy="73152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ticket records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ticket_matching.py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29129" y="1682496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140025" y="1417320"/>
            <a:ext cx="1911645" cy="731520"/>
          </a:xfrm>
          <a:prstGeom prst="roundRect">
            <a:avLst>
              <a:gd name="adj" fmla="val 7500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140025" y="1417320"/>
            <a:ext cx="1911645" cy="73152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validity </a:t>
            </a:r>
            <a:r>
              <a:rPr lang="en-US" sz="1250" b="1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allocation.py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24822" y="1682496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435718" y="1417320"/>
            <a:ext cx="1911645" cy="731520"/>
          </a:xfrm>
          <a:prstGeom prst="roundRect">
            <a:avLst>
              <a:gd name="adj" fmla="val 7500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7435718" y="1417320"/>
            <a:ext cx="1911645" cy="73152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 journey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times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travel_timing.py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20515" y="1682496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731411" y="1417320"/>
            <a:ext cx="1911645" cy="731520"/>
          </a:xfrm>
          <a:prstGeom prst="roundRect">
            <a:avLst>
              <a:gd name="adj" fmla="val 75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9731411" y="1417320"/>
            <a:ext cx="1911645" cy="73152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flex_travels (pax)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DataHandler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377440"/>
            <a:ext cx="2587752" cy="2286000"/>
          </a:xfrm>
          <a:prstGeom prst="roundRect">
            <a:avLst>
              <a:gd name="adj" fmla="val 24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548640" y="2377440"/>
            <a:ext cx="2587752" cy="228600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20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·  Match ticket records</a:t>
            </a:r>
            <a:endParaRPr lang="en-US" sz="1300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activation ticket combines the four-digit sales year with the sales ticket number, padded to 19 digits. All 37,675 records match one to one.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2377440"/>
            <a:ext cx="2587752" cy="2286000"/>
          </a:xfrm>
          <a:prstGeom prst="roundRect">
            <a:avLst>
              <a:gd name="adj" fmla="val 24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3383280" y="2377440"/>
            <a:ext cx="2587752" cy="228600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20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·  </a:t>
            </a:r>
            <a:r>
              <a:rPr lang="en-US" sz="130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eligibility rules</a:t>
            </a:r>
            <a:endParaRPr lang="en-US" sz="1300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only activations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within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validity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the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permitted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activation limit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2377440"/>
            <a:ext cx="2587752" cy="2286000"/>
          </a:xfrm>
          <a:prstGeom prst="roundRect">
            <a:avLst>
              <a:gd name="adj" fmla="val 24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6141842" y="2314740"/>
            <a:ext cx="2587752" cy="228600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·  Estimate journey times</a:t>
            </a:r>
            <a:endParaRPr lang="en-US" sz="1300" dirty="0"/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and return times are estimated from the survey probability tables. Spark performs the matching without UDFs, using a fixed SEED for consistent results with inverse transform sampling technique,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52560" y="2377440"/>
            <a:ext cx="2587752" cy="2286000"/>
          </a:xfrm>
          <a:prstGeom prst="roundRect">
            <a:avLst>
              <a:gd name="adj" fmla="val 24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9052560" y="2377440"/>
            <a:ext cx="2587752" cy="228600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20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·  </a:t>
            </a:r>
            <a:r>
              <a:rPr lang="en-US" sz="130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journey records</a:t>
            </a:r>
            <a:endParaRPr lang="en-US" sz="1300" dirty="0"/>
          </a:p>
          <a:p>
            <a:pPr marL="0" indent="0">
              <a:lnSpc>
                <a:spcPct val="200000"/>
              </a:lnSpc>
              <a:spcAft>
                <a:spcPts val="400"/>
              </a:spcAft>
              <a:buNone/>
            </a:pP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eligible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activation becomes one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one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record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passenger in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record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flex_travels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table.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11094415" cy="1892808"/>
          </a:xfrm>
          <a:prstGeom prst="roundRect">
            <a:avLst>
              <a:gd name="adj" fmla="val 375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545897" y="4723530"/>
            <a:ext cx="11094415" cy="1892808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Assumptions and exceptions</a:t>
            </a:r>
            <a:endParaRPr lang="en-US" sz="13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activation represents two journeys: one outbound and one return, with one passenger each.</a:t>
            </a:r>
            <a:endParaRPr lang="en-US" sz="13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Activations outside the validity period or above maximum_activations_allowed are excluded.</a:t>
            </a:r>
            <a:endParaRPr lang="en-US" sz="13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Journey times are estimated from the probability tables; a fixed SEED in conf/config.py ensures consistent results.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Timestamps are stored in UTC and reported in Europe/Brussels time. The ticket year comes from sales_date.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Modeling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model: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 two-stage process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  ·  </a:t>
            </a:r>
            <a:r>
              <a:rPr lang="en-US" sz="125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eligible journeys consistently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2485568" cy="749808"/>
          </a:xfrm>
          <a:prstGeom prst="roundRect">
            <a:avLst>
              <a:gd name="adj" fmla="val 731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548640" y="1664208"/>
            <a:ext cx="2485568" cy="749808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Sales, activations</a:t>
            </a:r>
            <a:r>
              <a:rPr lang="en-US" sz="12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products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ingestion.py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07360" y="1938528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418256" y="1664208"/>
            <a:ext cx="2485568" cy="749808"/>
          </a:xfrm>
          <a:prstGeom prst="roundRect">
            <a:avLst>
              <a:gd name="adj" fmla="val 7317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418256" y="1664208"/>
            <a:ext cx="2485568" cy="749808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ticket numbers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+ 19-digit number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76976" y="1938528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287872" y="1664208"/>
            <a:ext cx="2485568" cy="749808"/>
          </a:xfrm>
          <a:prstGeom prst="roundRect">
            <a:avLst>
              <a:gd name="adj" fmla="val 7317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287872" y="1664208"/>
            <a:ext cx="2485568" cy="749808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validity and limits</a:t>
            </a:r>
            <a:endParaRPr lang="en-US" sz="1250" dirty="0"/>
          </a:p>
          <a:p>
            <a:pPr marL="0" indent="0" algn="ctr">
              <a:buNone/>
            </a:pPr>
            <a:r>
              <a:rPr lang="en-US" sz="95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</a:t>
            </a:r>
            <a:r>
              <a:rPr lang="en-US" sz="9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</a:t>
            </a:r>
            <a:r>
              <a:rPr lang="en-US" sz="95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allowance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46591" y="1938528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157487" y="1664208"/>
            <a:ext cx="2485568" cy="749808"/>
          </a:xfrm>
          <a:prstGeom prst="roundRect">
            <a:avLst>
              <a:gd name="adj" fmla="val 7317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9157487" y="1664208"/>
            <a:ext cx="2485568" cy="749808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outbound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</a:t>
            </a:r>
            <a:r>
              <a:rPr lang="en-US" sz="1250" b="1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lang="en-US" sz="95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</a:t>
            </a:r>
            <a:r>
              <a:rPr lang="en-US" sz="9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 activation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42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  ·  </a:t>
            </a:r>
            <a:r>
              <a:rPr lang="en-US" sz="125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 journey times with a fixed SEED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2485568" cy="749808"/>
          </a:xfrm>
          <a:prstGeom prst="roundRect">
            <a:avLst>
              <a:gd name="adj" fmla="val 7317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548640" y="2834640"/>
            <a:ext cx="2485568" cy="749808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 outbound time</a:t>
            </a:r>
            <a:endParaRPr lang="en-US" sz="1250"/>
          </a:p>
          <a:p>
            <a:pPr marL="0" indent="0" algn="ctr">
              <a:buNone/>
            </a:pPr>
            <a:r>
              <a:rPr lang="en-US" sz="95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minutes_to_add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107360" y="3108960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418256" y="2834640"/>
            <a:ext cx="2485568" cy="749808"/>
          </a:xfrm>
          <a:prstGeom prst="roundRect">
            <a:avLst>
              <a:gd name="adj" fmla="val 7317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3418256" y="2834640"/>
            <a:ext cx="2485568" cy="749808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 return time</a:t>
            </a:r>
            <a:endParaRPr lang="en-US" sz="1250"/>
          </a:p>
          <a:p>
            <a:pPr marL="0" indent="0" algn="ctr">
              <a:buNone/>
            </a:pPr>
            <a:r>
              <a:rPr lang="en-US" sz="95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hours_between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76976" y="3108960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287872" y="2834640"/>
            <a:ext cx="2485568" cy="749808"/>
          </a:xfrm>
          <a:prstGeom prst="roundRect">
            <a:avLst>
              <a:gd name="adj" fmla="val 7317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6287872" y="2834640"/>
            <a:ext cx="2485568" cy="749808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UTC to Europe/Brussels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travel_date, travel_hour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846591" y="3108960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9157487" y="2834640"/>
            <a:ext cx="2485568" cy="749808"/>
          </a:xfrm>
          <a:prstGeom prst="roundRect">
            <a:avLst>
              <a:gd name="adj" fmla="val 731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9157487" y="2834640"/>
            <a:ext cx="2485568" cy="749808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flex_travels</a:t>
            </a:r>
            <a:endParaRPr lang="en-US" sz="1250" dirty="0"/>
          </a:p>
          <a:p>
            <a:pPr marL="0" indent="0" algn="ctr">
              <a:buNone/>
            </a:pPr>
            <a:r>
              <a:rPr lang="en-US" sz="95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outbound </a:t>
            </a:r>
            <a:r>
              <a:rPr lang="en-US" sz="950" dirty="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r>
              <a:rPr lang="en-US" sz="95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passengers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3442106" cy="658368"/>
          </a:xfrm>
          <a:prstGeom prst="roundRect">
            <a:avLst>
              <a:gd name="adj" fmla="val 8333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548640" y="3794760"/>
            <a:ext cx="3442106" cy="658368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37,675 sales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matched </a:t>
            </a:r>
            <a:r>
              <a:rPr lang="en-US" sz="95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to one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063898" y="4023360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374794" y="3794760"/>
            <a:ext cx="3442106" cy="658368"/>
          </a:xfrm>
          <a:prstGeom prst="roundRect">
            <a:avLst>
              <a:gd name="adj" fmla="val 8333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374794" y="3794760"/>
            <a:ext cx="3442106" cy="658368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1,093,237 valid activations</a:t>
            </a:r>
            <a:endParaRPr lang="en-US" sz="1250" dirty="0"/>
          </a:p>
          <a:p>
            <a:pPr marL="0" indent="0" algn="ctr">
              <a:buNone/>
            </a:pPr>
            <a:r>
              <a:rPr lang="en-US" sz="95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period and product limit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90053" y="4023360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8200949" y="3794760"/>
            <a:ext cx="3442106" cy="658368"/>
          </a:xfrm>
          <a:prstGeom prst="roundRect">
            <a:avLst>
              <a:gd name="adj" fmla="val 8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8200949" y="3794760"/>
            <a:ext cx="3442106" cy="658368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2,186,474 </a:t>
            </a:r>
            <a:r>
              <a:rPr lang="en-US" sz="12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passenger journeys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</a:t>
            </a:r>
            <a:r>
              <a:rPr lang="en-US" sz="95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outbound </a:t>
            </a:r>
            <a:r>
              <a:rPr lang="en-US" sz="950" dirty="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one </a:t>
            </a:r>
            <a:r>
              <a:rPr lang="en-US" sz="95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4663440"/>
            <a:ext cx="5394960" cy="1828800"/>
          </a:xfrm>
          <a:prstGeom prst="roundRect">
            <a:avLst>
              <a:gd name="adj" fmla="val 25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 txBox="1"/>
          <p:nvPr/>
        </p:nvSpPr>
        <p:spPr>
          <a:xfrm>
            <a:off x="548640" y="4663440"/>
            <a:ext cx="5394960" cy="182880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in brief: eligible activations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allocation model links sales, products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activations through a common ticket number.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keeps only records within the validity period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product limit N. Retained records show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paid travel days used for each ticket.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45352" y="4663440"/>
            <a:ext cx="5394960" cy="1828800"/>
          </a:xfrm>
          <a:prstGeom prst="roundRect">
            <a:avLst>
              <a:gd name="adj" fmla="val 25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6245352" y="4663440"/>
            <a:ext cx="5394960" cy="182880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in brief: journey timing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 uses the probability tables to estimate</a:t>
            </a:r>
            <a:endParaRPr lang="en-US" sz="1100" dirty="0"/>
          </a:p>
          <a:p>
            <a:pPr>
              <a:spcAft>
                <a:spcPts val="300"/>
              </a:spcAft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realistic outbound and return times using inverse transform sampling technique. A fixed SEED</a:t>
            </a:r>
            <a:r>
              <a:rPr lang="en-US" sz="1100" dirty="0"/>
              <a:t> </a:t>
            </a: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produces consistent results, while SEED+1 provides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return-time estimate. The same approach shows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passenger volumes by hour.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. Deployment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schema, environments and quality gates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485568" cy="82296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2485568" cy="82296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tests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..._input_tests.py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07360" y="1728216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418256" y="1417320"/>
            <a:ext cx="2485568" cy="82296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418256" y="1417320"/>
            <a:ext cx="2485568" cy="82296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..._pipeline.py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76976" y="1728216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287872" y="1417320"/>
            <a:ext cx="2485568" cy="82296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6287872" y="1417320"/>
            <a:ext cx="2485568" cy="82296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flex_travels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governed table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46591" y="1728216"/>
            <a:ext cx="237744" cy="201168"/>
          </a:xfrm>
          <a:prstGeom prst="rightArrow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157487" y="1417320"/>
            <a:ext cx="2485568" cy="822960"/>
          </a:xfrm>
          <a:prstGeom prst="roundRect">
            <a:avLst>
              <a:gd name="adj" fmla="val 6667"/>
            </a:avLst>
          </a:prstGeom>
          <a:solidFill>
            <a:srgbClr val="F2F6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9157487" y="1417320"/>
            <a:ext cx="2485568" cy="822960"/>
          </a:xfrm>
          <a:prstGeom prst="rect">
            <a:avLst/>
          </a:prstGeom>
          <a:noFill/>
          <a:ln>
            <a:solidFill>
              <a:schemeClr val="tx1"/>
            </a:solidFill>
            <a:prstDash val="lgDashDot"/>
          </a:ln>
        </p:spPr>
        <p:txBody>
          <a:bodyPr wrap="square" lIns="76200" tIns="101600" rIns="101600" bIns="762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Analysis, demo, scenarios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..._analysis.py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51446" y="2514600"/>
            <a:ext cx="6333620" cy="3803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tests run first and raise if errors_stopping_pipeline is non-empty, a bad load never reaches production.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 is non-interactive and deterministic; the analysis notebook is never part of the production run.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Notebooks are stored as .py in Databricks source format, so they are reviewable and versioned.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environment widget selects NPD or PRD (default NPD); all I/O goes through DataHandler.from_config.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Local: PySpark 3.5.x needs Python &gt;= 3.10, &lt; 3.13 and a JDK (Java 17); quality gates are pytest, ruff and pre-commit.</a:t>
            </a:r>
            <a:endParaRPr lang="en-US" sz="1300" dirty="0"/>
          </a:p>
          <a:p>
            <a:pPr>
              <a:lnSpc>
                <a:spcPct val="150000"/>
              </a:lnSpc>
            </a:pPr>
            <a:r>
              <a:rPr sz="1300" b="1" dirty="0">
                <a:solidFill>
                  <a:srgbClr val="2E6FD6"/>
                </a:solidFill>
                <a:latin typeface="Segoe UI"/>
              </a:rPr>
              <a:t>■  </a:t>
            </a:r>
            <a:r>
              <a:rPr sz="1000" b="1" dirty="0">
                <a:solidFill>
                  <a:srgbClr val="0B1F3A"/>
                </a:solidFill>
                <a:latin typeface="Segoe UI"/>
              </a:rPr>
              <a:t>Modeling (PRD): the estimation notebook fits Stage 1/2 and writes </a:t>
            </a:r>
            <a:r>
              <a:rPr sz="1000" b="1" dirty="0" err="1">
                <a:solidFill>
                  <a:srgbClr val="0B1F3A"/>
                </a:solidFill>
                <a:latin typeface="Segoe UI"/>
              </a:rPr>
              <a:t>flex_model_parameters</a:t>
            </a:r>
            <a:r>
              <a:rPr sz="1000" b="1" dirty="0">
                <a:solidFill>
                  <a:srgbClr val="0B1F3A"/>
                </a:solidFill>
                <a:latin typeface="Segoe UI"/>
              </a:rPr>
              <a:t>; the pipeline then scores units into </a:t>
            </a:r>
            <a:r>
              <a:rPr sz="1000" b="1" dirty="0" err="1">
                <a:solidFill>
                  <a:srgbClr val="0B1F3A"/>
                </a:solidFill>
                <a:latin typeface="Segoe UI"/>
              </a:rPr>
              <a:t>flex_unit_scores</a:t>
            </a:r>
            <a:r>
              <a:rPr sz="1000" b="1" dirty="0">
                <a:solidFill>
                  <a:srgbClr val="0B1F3A"/>
                </a:solidFill>
                <a:latin typeface="Segoe UI"/>
              </a:rPr>
              <a:t> in pure Spark (</a:t>
            </a:r>
            <a:r>
              <a:rPr sz="1000" b="1" dirty="0" err="1">
                <a:solidFill>
                  <a:srgbClr val="0B1F3A"/>
                </a:solidFill>
                <a:latin typeface="Segoe UI"/>
              </a:rPr>
              <a:t>scipy</a:t>
            </a:r>
            <a:r>
              <a:rPr sz="1000" b="1" dirty="0">
                <a:solidFill>
                  <a:srgbClr val="0B1F3A"/>
                </a:solidFill>
                <a:latin typeface="Segoe UI"/>
              </a:rPr>
              <a:t> / </a:t>
            </a:r>
            <a:r>
              <a:rPr sz="1000" b="1" dirty="0" err="1">
                <a:solidFill>
                  <a:srgbClr val="0B1F3A"/>
                </a:solidFill>
                <a:latin typeface="Segoe UI"/>
              </a:rPr>
              <a:t>statsmodels</a:t>
            </a:r>
            <a:r>
              <a:rPr sz="1000" b="1" dirty="0">
                <a:solidFill>
                  <a:srgbClr val="0B1F3A"/>
                </a:solidFill>
                <a:latin typeface="Segoe UI"/>
              </a:rPr>
              <a:t> only on the estimation cluster).</a:t>
            </a:r>
          </a:p>
        </p:txBody>
      </p:sp>
      <p:sp>
        <p:nvSpPr>
          <p:cNvPr id="17" name="Shape 15"/>
          <p:cNvSpPr/>
          <p:nvPr/>
        </p:nvSpPr>
        <p:spPr>
          <a:xfrm>
            <a:off x="6766560" y="2514600"/>
            <a:ext cx="4873752" cy="1417320"/>
          </a:xfrm>
          <a:prstGeom prst="roundRect">
            <a:avLst>
              <a:gd name="adj" fmla="val 322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6766560" y="2514600"/>
            <a:ext cx="4873752" cy="141732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(uv)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venv --python 3.11 .venv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-r requirements-dev.txt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4069080"/>
            <a:ext cx="4873752" cy="1554480"/>
          </a:xfrm>
          <a:prstGeom prst="roundRect">
            <a:avLst>
              <a:gd name="adj" fmla="val 294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6766560" y="4069080"/>
            <a:ext cx="4873752" cy="155448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&amp; lint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.\.venv\Scripts\python -m pytest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.\.venv\Scripts\python -m ruff check 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pre-commit run --all-files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CDFBDB3-197B-B60C-CEB6-4FA889319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E8A488-D86C-F0B6-B531-10D15112BA2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7173989-B27E-5067-0485-DC0C71706EED}"/>
              </a:ext>
            </a:extLst>
          </p:cNvPr>
          <p:cNvSpPr txBox="1"/>
          <p:nvPr/>
        </p:nvSpPr>
        <p:spPr>
          <a:xfrm>
            <a:off x="278527" y="1405192"/>
            <a:ext cx="11838523" cy="407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b="1" i="1" u="sng" dirty="0">
                <a:solidFill>
                  <a:srgbClr val="E8F0FA"/>
                </a:solidFill>
                <a:latin typeface="Courier New" pitchFamily="34" charset="0"/>
                <a:cs typeface="Courier New" pitchFamily="34" charset="-120"/>
              </a:rPr>
              <a:t>Questions </a:t>
            </a:r>
            <a:r>
              <a:rPr lang="en-US" b="1" i="1" u="sng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future sales</a:t>
            </a:r>
            <a:r>
              <a:rPr lang="en-US" i="1" u="sng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514350" indent="-514350">
              <a:lnSpc>
                <a:spcPct val="20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b="1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whether a sale</a:t>
            </a:r>
            <a:r>
              <a:rPr lang="en-US" b="1" dirty="0"/>
              <a:t> </a:t>
            </a:r>
            <a:r>
              <a:rPr lang="en-US" b="1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 activate, and when?</a:t>
            </a:r>
            <a:endParaRPr lang="en-US" b="1" dirty="0"/>
          </a:p>
          <a:p>
            <a:pPr marL="514350" indent="-514350">
              <a:lnSpc>
                <a:spcPct val="20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b="1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can we estimate travel from sales</a:t>
            </a:r>
            <a:r>
              <a:rPr lang="en-US" b="1" dirty="0"/>
              <a:t> </a:t>
            </a:r>
            <a:r>
              <a:rPr lang="en-US" b="1" dirty="0">
                <a:solidFill>
                  <a:srgbClr val="E8F0FA"/>
                </a:solidFill>
                <a:latin typeface="Courier New" pitchFamily="34" charset="0"/>
                <a:cs typeface="Courier New" pitchFamily="34" charset="-120"/>
              </a:rPr>
              <a:t>that</a:t>
            </a:r>
            <a:r>
              <a:rPr lang="en-US" b="1" dirty="0"/>
              <a:t> </a:t>
            </a:r>
            <a:r>
              <a:rPr lang="en-US" b="1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combines activated, inactive</a:t>
            </a:r>
            <a:r>
              <a:rPr lang="en-US" b="1" dirty="0"/>
              <a:t> </a:t>
            </a:r>
            <a:r>
              <a:rPr lang="en-US" b="1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breakage outcomes?</a:t>
            </a:r>
          </a:p>
          <a:p>
            <a:pPr marL="514350" indent="-514350">
              <a:lnSpc>
                <a:spcPct val="20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US" b="1" dirty="0">
                <a:solidFill>
                  <a:srgbClr val="E8F0FA"/>
                </a:solidFill>
                <a:latin typeface="Courier New" pitchFamily="34" charset="0"/>
                <a:cs typeface="Courier New" pitchFamily="34" charset="-120"/>
              </a:rPr>
              <a:t>How can we promote the behavior to travel allocation rather than sale allocation?</a:t>
            </a:r>
          </a:p>
        </p:txBody>
      </p:sp>
    </p:spTree>
    <p:extLst>
      <p:ext uri="{BB962C8B-B14F-4D97-AF65-F5344CB8AC3E}">
        <p14:creationId xmlns:p14="http://schemas.microsoft.com/office/powerpoint/2010/main" val="4125377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Modeling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model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across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sale, activation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travel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 399</a:t>
            </a:r>
            <a:endParaRPr lang="en-US" sz="19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value per travel allocation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410712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3410712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 344</a:t>
            </a:r>
            <a:endParaRPr lang="en-US" sz="19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value per sale allocation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72784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272784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+EUR 55</a:t>
            </a:r>
            <a:endParaRPr lang="en-US" sz="19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increase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sale (CI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55–56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134856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9134856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~0%</a:t>
            </a:r>
            <a:endParaRPr lang="en-US" sz="19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breakage;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activation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usually occurs within 2–3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days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95943" y="2651760"/>
            <a:ext cx="6844937" cy="2500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compares expected value per sale rather than only the cash collected at purchase.</a:t>
            </a:r>
            <a:endParaRPr lang="en-US" sz="12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 uses a mixture cure model: logistic incidence estimates the share that will activate, and Weibull estimates when activation will occur.</a:t>
            </a:r>
            <a:endParaRPr lang="en-US" sz="12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 uses a negative-binomial GLM to estimate journeys per active day.</a:t>
            </a:r>
            <a:endParaRPr lang="en-US" sz="12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activation pattern has two clear periods: many same-day activations and another group after approximately three days.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2606040"/>
            <a:ext cx="4416552" cy="2103120"/>
          </a:xfrm>
          <a:prstGeom prst="roundRect">
            <a:avLst>
              <a:gd name="adj" fmla="val 217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7223760" y="2606040"/>
            <a:ext cx="4416552" cy="210312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in brief: expected value per sale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mixture cure model estimates whether a sale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 activate, and Weibull estimates when.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negative-binomial GLM then estimates travel.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value combines activated, inactive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breakage outcomes. The confidence interval (CI)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 a 1,000-draw bootstrap.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4846320"/>
            <a:ext cx="4416552" cy="1005840"/>
          </a:xfrm>
          <a:prstGeom prst="roundRect">
            <a:avLst>
              <a:gd name="adj" fmla="val 5455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7223760" y="4846320"/>
            <a:ext cx="4416552" cy="100584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sale-to-travel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is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financially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sound: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lost during activation. The main commercial question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</a:t>
            </a:r>
            <a:r>
              <a:rPr lang="en-US" sz="10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therefore usage </a:t>
            </a:r>
            <a:r>
              <a:rPr lang="en-US" sz="10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Modeling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the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MDP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3400" y="1463040"/>
            <a:ext cx="5562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Markov Decision Process (MDP) reviews each subscription according to its remaining travel-day allowance.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compares the value of no action with the value of encouraging one additional activation at an incentive cost.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works backward through the remaining days using estimate_hazards and evaluate_transition in mdp_what_if.py.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93710"/>
            <a:ext cx="5394960" cy="1920240"/>
          </a:xfrm>
          <a:prstGeom prst="roundRect">
            <a:avLst>
              <a:gd name="adj" fmla="val 238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548640" y="3293710"/>
            <a:ext cx="5394960" cy="192024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in brief: annual recovery with the MDP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each level of use, the MDP compares: continue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promotion, or offer one additional activation.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uses </a:t>
            </a:r>
            <a:r>
              <a:rPr lang="en-US" sz="850" dirty="0" err="1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estimate_hazards</a:t>
            </a: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r>
              <a:rPr lang="en-US" sz="850" dirty="0" err="1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evaluate_transition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mdp_what_if.py, with uplift = +0.10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incentive = 25% of the per-day price.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recovery is the difference in estimated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with and without promotion.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5257800"/>
            <a:ext cx="5394960" cy="1325880"/>
          </a:xfrm>
          <a:prstGeom prst="roundRect">
            <a:avLst>
              <a:gd name="adj" fmla="val 4138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5394960" cy="132588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Headline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Targeted promotion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could recover approximately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 2.1M per year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about one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third of the gap. Promote Flex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 and Flex 120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cumulative use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remains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below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approximately 88–89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%;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retain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pricing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Flex 6 and Flex 10, which are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98% used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2393718345"/>
              </p:ext>
            </p:extLst>
          </p:nvPr>
        </p:nvGraphicFramePr>
        <p:xfrm>
          <a:off x="6217920" y="1371600"/>
          <a:ext cx="54406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F0A2C-AE39-361C-6750-D69C7CAF8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F45AA4-8DC0-0DC9-D9F4-706AE927D42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F45A21E-9120-685E-7607-B1D91C6E2254}"/>
              </a:ext>
            </a:extLst>
          </p:cNvPr>
          <p:cNvSpPr txBox="1"/>
          <p:nvPr/>
        </p:nvSpPr>
        <p:spPr>
          <a:xfrm>
            <a:off x="660608" y="1790545"/>
            <a:ext cx="11094415" cy="2072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50000"/>
              </a:lnSpc>
              <a:spcAft>
                <a:spcPts val="300"/>
              </a:spcAft>
            </a:pPr>
            <a:r>
              <a:rPr lang="en-US" b="1" i="1" u="sng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before promote travel activation:</a:t>
            </a:r>
          </a:p>
          <a:p>
            <a:pPr>
              <a:lnSpc>
                <a:spcPct val="250000"/>
              </a:lnSpc>
              <a:spcAft>
                <a:spcPts val="300"/>
              </a:spcAft>
            </a:pPr>
            <a:r>
              <a:rPr lang="en-US" b="1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evaluate the tradeoff between revenue risk and train capacity planning?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6047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Evaluation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train requirement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7,894</a:t>
            </a:r>
            <a:endParaRPr lang="en-US" sz="20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Trains per day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planned from sales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10712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3410712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5,478</a:t>
            </a:r>
            <a:endParaRPr lang="en-US" sz="20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Trains per day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actual travel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72784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272784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-2,416</a:t>
            </a:r>
            <a:endParaRPr lang="en-US" sz="20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trains per day (-30.6%) at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level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34856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9134856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369</a:t>
            </a:r>
            <a:endParaRPr lang="en-US" sz="20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trains at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07:00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1,203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versus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834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560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Trains </a:t>
            </a:r>
            <a:r>
              <a:rPr lang="en-US" sz="125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</a:t>
            </a: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hour </a:t>
            </a:r>
            <a:r>
              <a:rPr lang="en-US" sz="125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each</a:t>
            </a: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planning basis</a:t>
            </a:r>
            <a:endParaRPr lang="en-US" sz="1250" dirty="0"/>
          </a:p>
        </p:txBody>
      </p:sp>
      <p:pic>
        <p:nvPicPr>
          <p:cNvPr id="14" name="Image 0" descr="assets/trainsched_h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16352"/>
            <a:ext cx="11091672" cy="2560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544068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planning rule is applied to both cases: an illustrative fleet of 500 seats per train at a maximum load of 80%, adjustable in the demonstration.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from actual travel may reduce crew, energy and rolling-stock costs while maintaining the same service standard.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223760" y="5349240"/>
            <a:ext cx="4416552" cy="137160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7223760" y="5349240"/>
            <a:ext cx="4416552" cy="137160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Calculation approach: trains per day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Hourly passenger demand is divided by capacity: 500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 per train at an 80% target load. The hourly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 are then added for the daily total.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planning requires 7,894 trains versus 5,478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actual travel: 2,416 fewer, or 30.6%.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Evaluation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based on actual travel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2,186,474</a:t>
            </a:r>
            <a:endParaRPr lang="en-US" sz="20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Passenger journeys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allocated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10712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3410712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3,153,652</a:t>
            </a:r>
            <a:endParaRPr lang="en-US" sz="20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Passenger journeys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if every paid day were used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72784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272784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69.3%</a:t>
            </a:r>
            <a:endParaRPr lang="en-US" sz="20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planned from sales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34856" y="1417320"/>
            <a:ext cx="2688336" cy="1051560"/>
          </a:xfrm>
          <a:prstGeom prst="roundRect">
            <a:avLst>
              <a:gd name="adj" fmla="val 5217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9134856" y="1417320"/>
            <a:ext cx="2688336" cy="105156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+44%</a:t>
            </a:r>
            <a:endParaRPr lang="en-US" sz="20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Excess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seats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capacity is based on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sales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51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Passengers </a:t>
            </a: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hour: actual allocation </a:t>
            </a:r>
            <a:r>
              <a:rPr lang="en-US" sz="125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compared with full-use planning</a:t>
            </a:r>
            <a:endParaRPr lang="en-US" sz="1250" dirty="0"/>
          </a:p>
        </p:txBody>
      </p:sp>
      <p:pic>
        <p:nvPicPr>
          <p:cNvPr id="14" name="Image 0" descr="assets/trainfill_h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11091672" cy="192938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4983480"/>
            <a:ext cx="6492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Sales-based planning assumes every paid day will be used: 3.15M potential journeys compared with 2.19M actual journeys.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difference is greatest during commuter peaks: 333,000 actual passengers versus 481,000 planned at 07:00, with a similar pattern at 17:00.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from actual allocation removes excess capacity, although an appropriate reserve is still required if use increases.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223760" y="4937760"/>
            <a:ext cx="4416552" cy="1645920"/>
          </a:xfrm>
          <a:prstGeom prst="roundRect">
            <a:avLst>
              <a:gd name="adj" fmla="val 277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7223760" y="4937760"/>
            <a:ext cx="4416552" cy="164592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Calculation approach: peak capacity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 compares hourly passenger demand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actual allocation with full use of paid days.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peak is 481,000 passengers under sales planning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versus 333,000 from actual allocation.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44% additional capacity at 07:00.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Evaluation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exposure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by product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 20.9M</a:t>
            </a:r>
            <a:endParaRPr lang="en-US" sz="18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sales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full price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in advance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3657600" cy="109728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 14.7M</a:t>
            </a:r>
            <a:endParaRPr lang="en-US" sz="18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if income reflected journeys taken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3657600" cy="109728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 6.2M  ·  29.8%</a:t>
            </a:r>
            <a:endParaRPr lang="en-US" sz="18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Potential revenue exposure </a:t>
            </a:r>
            <a:r>
              <a:rPr lang="en-US" sz="11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</a:t>
            </a:r>
            <a:r>
              <a:rPr lang="en-US" sz="110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unused travel days</a:t>
            </a:r>
            <a:endParaRPr lang="en-US" sz="180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1346556569"/>
              </p:ext>
            </p:extLst>
          </p:nvPr>
        </p:nvGraphicFramePr>
        <p:xfrm>
          <a:off x="4572000" y="1371600"/>
          <a:ext cx="7068312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5138928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Exposure is concentrated in the longer passes: Flex 120 uses approximately half of its days, while Flex 6 and Flex 10 use nearly all of theirs.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figures use illustrative data. The non-payment rate remains an assumption that requires validation.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23760" y="4983480"/>
            <a:ext cx="4416552" cy="1645920"/>
          </a:xfrm>
          <a:prstGeom prst="roundRect">
            <a:avLst>
              <a:gd name="adj" fmla="val 277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7223760" y="4983480"/>
            <a:ext cx="4416552" cy="164592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Calculation approach: revenue exposure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subscription, the sales value is divided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the permitted number of activations. That value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multiplied by the travel days used and compared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the original sales revenue. The result is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 20.88M less EUR 14.65M: EUR 6.23M, or 29.8%.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1% of non-payment adds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EUR 0.15M.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Evaluation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Balancing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</a:t>
            </a: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effects result from unused travel days. Products with the greatest revenue exposure also create the greatest opportunity to reduce planned capacity.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120: approximately half of its days are unused, affecting about 50% of revenue and planned capacity. Highest priority.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80: approximately 23% on both measures. Medium priority.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6 and Flex 10: 1–2% on both measures. Retain sales pricing.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5394960" cy="146304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40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</a:t>
            </a:r>
            <a:r>
              <a:rPr lang="en-US" sz="14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</a:t>
            </a:r>
            <a:r>
              <a:rPr lang="en-US" sz="140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</a:t>
            </a:r>
            <a:r>
              <a:rPr lang="en-US" sz="14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</a:t>
            </a:r>
            <a:r>
              <a:rPr lang="en-US" sz="1400" b="1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objectives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Targeted promotion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improve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and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use at 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</a:t>
            </a:r>
            <a:r>
              <a:rPr lang="en-US" sz="115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by encouraging customers to take journeys they have already purchased</a:t>
            </a:r>
            <a:r>
              <a:rPr lang="en-US" sz="115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966586027"/>
              </p:ext>
            </p:extLst>
          </p:nvPr>
        </p:nvGraphicFramePr>
        <p:xfrm>
          <a:off x="6217920" y="1371600"/>
          <a:ext cx="54406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54760"/>
              </p:ext>
            </p:extLst>
          </p:nvPr>
        </p:nvGraphicFramePr>
        <p:xfrm>
          <a:off x="6217920" y="4251960"/>
          <a:ext cx="5440680" cy="1738376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/ capacity effect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Recoverable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 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 10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2.3%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 80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77%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23.3%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EUR 0.77M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 120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50.3%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EUR 1.32M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· Deployment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app: one subscription, input to output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26893" y="1511440"/>
            <a:ext cx="58689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a sample subscription end to end: the sale and its activations, then the resulting there / back travels.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shows the global distributions by product, date and hour x direction.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small precomputed artifacts, so it is fast and needs no Spark.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Includes the revenue-risk and what-if charts, plus the travel-allocation value model and the flex_unit_scores output (per-subscription scores).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04425" y="4641368"/>
            <a:ext cx="4206240" cy="1691640"/>
          </a:xfrm>
          <a:prstGeom prst="roundRect">
            <a:avLst>
              <a:gd name="adj" fmla="val 270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Text 5"/>
          <p:cNvSpPr txBox="1"/>
          <p:nvPr/>
        </p:nvSpPr>
        <p:spPr>
          <a:xfrm>
            <a:off x="390734" y="4641368"/>
            <a:ext cx="4206240" cy="1691640"/>
          </a:xfrm>
          <a:prstGeom prst="rect">
            <a:avLst/>
          </a:prstGeom>
          <a:noFill/>
          <a:ln/>
        </p:spPr>
        <p:txBody>
          <a:bodyPr wrap="square" lIns="152400" tIns="203200" rIns="177800" bIns="152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8FA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regenerate the artifacts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precompute_demo.py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8FA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run the app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streamlit run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streamlit_app/app.py</a:t>
            </a:r>
            <a:endParaRPr lang="en-US" sz="1100" dirty="0"/>
          </a:p>
        </p:txBody>
      </p:sp>
      <p:pic>
        <p:nvPicPr>
          <p:cNvPr id="8" name="Image 0" descr="assets/stream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9432"/>
            <a:ext cx="5145739" cy="3447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427438-4059-7271-4CEC-FA86C0338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870" y="4641368"/>
            <a:ext cx="7051991" cy="21400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</a:t>
            </a:r>
            <a:r>
              <a:rPr lang="en-US" sz="1200" b="1" dirty="0">
                <a:solidFill>
                  <a:srgbClr val="5A7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by product and next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587752" cy="2331720"/>
          </a:xfrm>
          <a:prstGeom prst="roundRect">
            <a:avLst>
              <a:gd name="adj" fmla="val 2353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2587752" cy="233172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120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E08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 ·  50% used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Retain sales pricing; activation pricing would reduce revenue by about half.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Plan capacity from actual demand: approximately 50% less than the sales-based plan.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Prioritise promotion: estimated value EUR 1.32M.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Estimated migration value: +EUR 144 per sale.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325880"/>
            <a:ext cx="2587752" cy="2331720"/>
          </a:xfrm>
          <a:prstGeom prst="roundRect">
            <a:avLst>
              <a:gd name="adj" fmla="val 2353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325880"/>
            <a:ext cx="2587752" cy="233172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80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 ·  77% used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Retain sales pricing.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Plan capacity from actual demand: approximately 23% less than the sales-based plan.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Conduct a targeted promotion pilot: estimated value EUR 0.77M.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Estimated migration value: +EUR 114 per sale.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2587752" cy="2331720"/>
          </a:xfrm>
          <a:prstGeom prst="roundRect">
            <a:avLst>
              <a:gd name="adj" fmla="val 2353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325880"/>
            <a:ext cx="2587752" cy="233172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10 and Flex 6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 ·  approximately 98–99% used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Retain sales pricing; activation pricing is broadly revenue-neutral.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Capacity is already well aligned; no action is required.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Estimated migration value remains positive: +EUR 12 / +EUR 9 per sale.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52560" y="1325880"/>
            <a:ext cx="2587752" cy="2331720"/>
          </a:xfrm>
          <a:prstGeom prst="roundRect">
            <a:avLst>
              <a:gd name="adj" fmla="val 2353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1325880"/>
            <a:ext cx="2587752" cy="233172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Principles for all products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products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Do not adopt activation pricing where unused travel days are high.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Plan capacity from actual demand; the benefit increases with under-use.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 The principal commercial issue is usage pricing, not activation or onboarding.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2587752" cy="13716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94760"/>
            <a:ext cx="2587752" cy="137160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·  Implement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the pipeline in PRD, with input tests as a mandatory control and with monitoring and alerts.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83280" y="3794760"/>
            <a:ext cx="2587752" cy="13716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794760"/>
            <a:ext cx="2587752" cy="137160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·  Validate and refine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the allocation with actual ticketing / AFC data and refine timezone and DST handling.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794760"/>
            <a:ext cx="2587752" cy="13716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794760"/>
            <a:ext cx="2587752" cy="137160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·  Run a controlled pilot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an A/B test for Flex 80 and Flex 120 to measure the actual uplift and incentive cost.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3794760"/>
            <a:ext cx="2587752" cy="13716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3794760"/>
            <a:ext cx="2587752" cy="1371600"/>
          </a:xfrm>
          <a:prstGeom prst="rect">
            <a:avLst/>
          </a:prstGeom>
          <a:noFill/>
          <a:ln/>
        </p:spPr>
        <p:txBody>
          <a:bodyPr wrap="square" lIns="177800" tIns="203200" rIns="177800" bIns="15240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·  Expand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route and capacity information for occupancy analysis, then extend the approach to other products.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66544" y="5336177"/>
            <a:ext cx="1190275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requested: approve the scheduled production run and fund the promotion pilot for Flex 80 and Flex 120, with approximately EUR 2.1M per year at stake.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is appropriate to pursue, expected value increases by EUR 55 per sale, estimated breakage is near zero, and the EUR 20.9M travel-allocation obligation is expected to conclude within approximately three weeks.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2E6F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 </a:t>
            </a: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recommended: pursuing the remaining EUR 4.1M of structural under-use or changing the pricing of Flex 6 and Flex 10, which are already approximately 98% used.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Metadata/LabelInfo.xml><?xml version="1.0" encoding="utf-8"?>
<clbl:labelList xmlns:clbl="http://schemas.microsoft.com/office/2020/mipLabelMetadata">
  <clbl:label id="{6c04a875-6eb2-484b-a14b-e2519851b720}" enabled="1" method="Standard" siteId="{14cb4ab4-62b8-45a2-a944-e225383ee1f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779</TotalTime>
  <Words>3785</Words>
  <Application>Microsoft Office PowerPoint</Application>
  <PresentationFormat>Widescreen</PresentationFormat>
  <Paragraphs>408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 travel allocation - 15 min</dc:title>
  <dc:subject>PptxGenJS Presentation</dc:subject>
  <dc:creator>Advanced Analytics</dc:creator>
  <cp:lastModifiedBy>Rachid ELMEZIANE</cp:lastModifiedBy>
  <cp:revision>46</cp:revision>
  <dcterms:created xsi:type="dcterms:W3CDTF">2026-09-15T07:52:21Z</dcterms:created>
  <dcterms:modified xsi:type="dcterms:W3CDTF">2026-09-17T12:19:16Z</dcterms:modified>
</cp:coreProperties>
</file>